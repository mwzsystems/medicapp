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7f68f8b4f4096" /><Relationship Type="http://schemas.openxmlformats.org/officeDocument/2006/relationships/extended-properties" Target="/docProps/app.xml" Id="Re07c35e7f2184033" /><Relationship Type="http://schemas.openxmlformats.org/officeDocument/2006/relationships/officeDocument" Target="/ppt/presentation.xml" Id="Re1a75d61c300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f1a91bbc84b21"/>
  </p:sldMasterIdLst>
  <p:notesMasterIdLst>
    <p:notesMasterId xmlns:r="http://schemas.openxmlformats.org/officeDocument/2006/relationships" r:id="R92a14b5bd7f9487e"/>
  </p:notesMasterIdLst>
  <p:sldIdLst>
    <p:sldId xmlns:r="http://schemas.openxmlformats.org/officeDocument/2006/relationships" id="256" r:id="R2534c85031f94d83"/>
    <p:sldId xmlns:r="http://schemas.openxmlformats.org/officeDocument/2006/relationships" id="257" r:id="Rd1d81f1924474d11"/>
    <p:sldId xmlns:r="http://schemas.openxmlformats.org/officeDocument/2006/relationships" id="258" r:id="Rbb52440152e44cfd"/>
    <p:sldId xmlns:r="http://schemas.openxmlformats.org/officeDocument/2006/relationships" id="259" r:id="Rbdb7a7ef907340f7"/>
    <p:sldId xmlns:r="http://schemas.openxmlformats.org/officeDocument/2006/relationships" id="260" r:id="Rcb8c888ed3344325"/>
    <p:sldId xmlns:r="http://schemas.openxmlformats.org/officeDocument/2006/relationships" id="261" r:id="R878104ef6431490b"/>
    <p:sldId xmlns:r="http://schemas.openxmlformats.org/officeDocument/2006/relationships" id="262" r:id="R48efae7a83d64ccf"/>
    <p:sldId xmlns:r="http://schemas.openxmlformats.org/officeDocument/2006/relationships" id="263" r:id="Rb356d3882ac34108"/>
    <p:sldId xmlns:r="http://schemas.openxmlformats.org/officeDocument/2006/relationships" id="264" r:id="Ra6a41305f7e146f0"/>
    <p:sldId xmlns:r="http://schemas.openxmlformats.org/officeDocument/2006/relationships" id="265" r:id="Re4ee2f0ae862439e"/>
    <p:sldId xmlns:r="http://schemas.openxmlformats.org/officeDocument/2006/relationships" id="266" r:id="R026607a412f54276"/>
    <p:sldId xmlns:r="http://schemas.openxmlformats.org/officeDocument/2006/relationships" id="267" r:id="R68464adefd1e4565"/>
    <p:sldId xmlns:r="http://schemas.openxmlformats.org/officeDocument/2006/relationships" id="268" r:id="R67c734c0b4ae43d5"/>
    <p:sldId xmlns:r="http://schemas.openxmlformats.org/officeDocument/2006/relationships" id="269" r:id="R8ca20f4ae32d4861"/>
    <p:sldId xmlns:r="http://schemas.openxmlformats.org/officeDocument/2006/relationships" id="270" r:id="Rcfe0c51942154cca"/>
    <p:sldId xmlns:r="http://schemas.openxmlformats.org/officeDocument/2006/relationships" id="271" r:id="Rea78c6d2359c45ca"/>
    <p:sldId xmlns:r="http://schemas.openxmlformats.org/officeDocument/2006/relationships" id="272" r:id="R71b3b3b2d90c4e7c"/>
    <p:sldId xmlns:r="http://schemas.openxmlformats.org/officeDocument/2006/relationships" id="273" r:id="R85893dbf32b84d17"/>
    <p:sldId xmlns:r="http://schemas.openxmlformats.org/officeDocument/2006/relationships" id="274" r:id="R9ffe6161ebc84c8d"/>
    <p:sldId xmlns:r="http://schemas.openxmlformats.org/officeDocument/2006/relationships" id="275" r:id="Rf400dec350db43d0"/>
    <p:sldId xmlns:r="http://schemas.openxmlformats.org/officeDocument/2006/relationships" id="276" r:id="Reb61b6e5f92e4b16"/>
    <p:sldId xmlns:r="http://schemas.openxmlformats.org/officeDocument/2006/relationships" id="277" r:id="Rc6f26241d64542d3"/>
    <p:sldId xmlns:r="http://schemas.openxmlformats.org/officeDocument/2006/relationships" id="278" r:id="R184b9aa607804f45"/>
    <p:sldId xmlns:r="http://schemas.openxmlformats.org/officeDocument/2006/relationships" id="279" r:id="Re60bfa0cedee4834"/>
    <p:sldId xmlns:r="http://schemas.openxmlformats.org/officeDocument/2006/relationships" id="280" r:id="R69f315d02ef74bfc"/>
    <p:sldId xmlns:r="http://schemas.openxmlformats.org/officeDocument/2006/relationships" id="281" r:id="R248fcc311c814b7c"/>
    <p:sldId xmlns:r="http://schemas.openxmlformats.org/officeDocument/2006/relationships" id="282" r:id="Rb313800b20cc4846"/>
    <p:sldId xmlns:r="http://schemas.openxmlformats.org/officeDocument/2006/relationships" id="283" r:id="R5ea96e2b0bb94e38"/>
    <p:sldId xmlns:r="http://schemas.openxmlformats.org/officeDocument/2006/relationships" id="284" r:id="Rf6fd201fb29e4da2"/>
    <p:sldId xmlns:r="http://schemas.openxmlformats.org/officeDocument/2006/relationships" id="285" r:id="R4064f0d936ce45fc"/>
    <p:sldId xmlns:r="http://schemas.openxmlformats.org/officeDocument/2006/relationships" id="286" r:id="Raf73becc726449d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9108f0693f44ad" /><Relationship Type="http://schemas.openxmlformats.org/officeDocument/2006/relationships/slideMaster" Target="/ppt/slideMasters/slideMaster1.xml" Id="Refff1a91bbc84b21" /><Relationship Type="http://schemas.openxmlformats.org/officeDocument/2006/relationships/notesMaster" Target="/ppt/notesMasters/notesMaster1.xml" Id="R92a14b5bd7f9487e" /><Relationship Type="http://schemas.openxmlformats.org/officeDocument/2006/relationships/presProps" Target="/ppt/presProps.xml" Id="R9b50f981f21f4363" /><Relationship Type="http://schemas.openxmlformats.org/officeDocument/2006/relationships/tableStyles" Target="/ppt/tableStyles.xml" Id="R28835556bd0d44b2" /><Relationship Type="http://schemas.openxmlformats.org/officeDocument/2006/relationships/slide" Target="/ppt/slides/slide1.xml" Id="R2534c85031f94d83" /><Relationship Type="http://schemas.openxmlformats.org/officeDocument/2006/relationships/slide" Target="/ppt/slides/slide2.xml" Id="Rd1d81f1924474d11" /><Relationship Type="http://schemas.openxmlformats.org/officeDocument/2006/relationships/slide" Target="/ppt/slides/slide3.xml" Id="Rbb52440152e44cfd" /><Relationship Type="http://schemas.openxmlformats.org/officeDocument/2006/relationships/slide" Target="/ppt/slides/slide4.xml" Id="Rbdb7a7ef907340f7" /><Relationship Type="http://schemas.openxmlformats.org/officeDocument/2006/relationships/slide" Target="/ppt/slides/slide5.xml" Id="Rcb8c888ed3344325" /><Relationship Type="http://schemas.openxmlformats.org/officeDocument/2006/relationships/slide" Target="/ppt/slides/slide6.xml" Id="R878104ef6431490b" /><Relationship Type="http://schemas.openxmlformats.org/officeDocument/2006/relationships/slide" Target="/ppt/slides/slide7.xml" Id="R48efae7a83d64ccf" /><Relationship Type="http://schemas.openxmlformats.org/officeDocument/2006/relationships/slide" Target="/ppt/slides/slide8.xml" Id="Rb356d3882ac34108" /><Relationship Type="http://schemas.openxmlformats.org/officeDocument/2006/relationships/slide" Target="/ppt/slides/slide9.xml" Id="Ra6a41305f7e146f0" /><Relationship Type="http://schemas.openxmlformats.org/officeDocument/2006/relationships/slide" Target="/ppt/slides/slide10.xml" Id="Re4ee2f0ae862439e" /><Relationship Type="http://schemas.openxmlformats.org/officeDocument/2006/relationships/slide" Target="/ppt/slides/slide11.xml" Id="R026607a412f54276" /><Relationship Type="http://schemas.openxmlformats.org/officeDocument/2006/relationships/slide" Target="/ppt/slides/slide12.xml" Id="R68464adefd1e4565" /><Relationship Type="http://schemas.openxmlformats.org/officeDocument/2006/relationships/slide" Target="/ppt/slides/slide13.xml" Id="R67c734c0b4ae43d5" /><Relationship Type="http://schemas.openxmlformats.org/officeDocument/2006/relationships/slide" Target="/ppt/slides/slide14.xml" Id="R8ca20f4ae32d4861" /><Relationship Type="http://schemas.openxmlformats.org/officeDocument/2006/relationships/slide" Target="/ppt/slides/slide15.xml" Id="Rcfe0c51942154cca" /><Relationship Type="http://schemas.openxmlformats.org/officeDocument/2006/relationships/slide" Target="/ppt/slides/slide16.xml" Id="Rea78c6d2359c45ca" /><Relationship Type="http://schemas.openxmlformats.org/officeDocument/2006/relationships/slide" Target="/ppt/slides/slide17.xml" Id="R71b3b3b2d90c4e7c" /><Relationship Type="http://schemas.openxmlformats.org/officeDocument/2006/relationships/slide" Target="/ppt/slides/slide18.xml" Id="R85893dbf32b84d17" /><Relationship Type="http://schemas.openxmlformats.org/officeDocument/2006/relationships/slide" Target="/ppt/slides/slide19.xml" Id="R9ffe6161ebc84c8d" /><Relationship Type="http://schemas.openxmlformats.org/officeDocument/2006/relationships/slide" Target="/ppt/slides/slide20.xml" Id="Rf400dec350db43d0" /><Relationship Type="http://schemas.openxmlformats.org/officeDocument/2006/relationships/slide" Target="/ppt/slides/slide21.xml" Id="Reb61b6e5f92e4b16" /><Relationship Type="http://schemas.openxmlformats.org/officeDocument/2006/relationships/slide" Target="/ppt/slides/slide22.xml" Id="Rc6f26241d64542d3" /><Relationship Type="http://schemas.openxmlformats.org/officeDocument/2006/relationships/slide" Target="/ppt/slides/slide23.xml" Id="R184b9aa607804f45" /><Relationship Type="http://schemas.openxmlformats.org/officeDocument/2006/relationships/slide" Target="/ppt/slides/slide24.xml" Id="Re60bfa0cedee4834" /><Relationship Type="http://schemas.openxmlformats.org/officeDocument/2006/relationships/slide" Target="/ppt/slides/slide25.xml" Id="R69f315d02ef74bfc" /><Relationship Type="http://schemas.openxmlformats.org/officeDocument/2006/relationships/slide" Target="/ppt/slides/slide26.xml" Id="R248fcc311c814b7c" /><Relationship Type="http://schemas.openxmlformats.org/officeDocument/2006/relationships/slide" Target="/ppt/slides/slide27.xml" Id="Rb313800b20cc4846" /><Relationship Type="http://schemas.openxmlformats.org/officeDocument/2006/relationships/slide" Target="/ppt/slides/slide28.xml" Id="R5ea96e2b0bb94e38" /><Relationship Type="http://schemas.openxmlformats.org/officeDocument/2006/relationships/slide" Target="/ppt/slides/slide29.xml" Id="Rf6fd201fb29e4da2" /><Relationship Type="http://schemas.openxmlformats.org/officeDocument/2006/relationships/slide" Target="/ppt/slides/slide30.xml" Id="R4064f0d936ce45fc" /><Relationship Type="http://schemas.openxmlformats.org/officeDocument/2006/relationships/slide" Target="/ppt/slides/slide31.xml" Id="Raf73becc726449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29600e64a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8f99c20d44586" /><Relationship Type="http://schemas.openxmlformats.org/officeDocument/2006/relationships/notesMaster" Target="/ppt/notesMasters/notesMaster1.xml" Id="Rbd1ab92fd5d9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e4fab975e48e3" /><Relationship Type="http://schemas.openxmlformats.org/officeDocument/2006/relationships/notesMaster" Target="/ppt/notesMasters/notesMaster1.xml" Id="Rf9c2fe144822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6a4eca2d33443e" /><Relationship Type="http://schemas.openxmlformats.org/officeDocument/2006/relationships/notesMaster" Target="/ppt/notesMasters/notesMaster1.xml" Id="Rb030f158631d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82e0cabb34f6a" /><Relationship Type="http://schemas.openxmlformats.org/officeDocument/2006/relationships/notesMaster" Target="/ppt/notesMasters/notesMaster1.xml" Id="Rf5e9b1f0dc2549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7cc01ef8c343b4" /><Relationship Type="http://schemas.openxmlformats.org/officeDocument/2006/relationships/notesMaster" Target="/ppt/notesMasters/notesMaster1.xml" Id="R0aeb4f6044f54d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774a5dc3034b0c" /><Relationship Type="http://schemas.openxmlformats.org/officeDocument/2006/relationships/notesMaster" Target="/ppt/notesMasters/notesMaster1.xml" Id="R67d442ab5f0d4b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cb21d37804aa5" /><Relationship Type="http://schemas.openxmlformats.org/officeDocument/2006/relationships/notesMaster" Target="/ppt/notesMasters/notesMaster1.xml" Id="R923d97d5664d48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ddfd66f7504474" /><Relationship Type="http://schemas.openxmlformats.org/officeDocument/2006/relationships/notesMaster" Target="/ppt/notesMasters/notesMaster1.xml" Id="R7c8adcd73bc547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f66880e1074be5" /><Relationship Type="http://schemas.openxmlformats.org/officeDocument/2006/relationships/notesMaster" Target="/ppt/notesMasters/notesMaster1.xml" Id="Raf6ffbfbbea942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cf8c3370be432c" /><Relationship Type="http://schemas.openxmlformats.org/officeDocument/2006/relationships/notesMaster" Target="/ppt/notesMasters/notesMaster1.xml" Id="Rc17a7f18472745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76797d48b14944" /><Relationship Type="http://schemas.openxmlformats.org/officeDocument/2006/relationships/notesMaster" Target="/ppt/notesMasters/notesMaster1.xml" Id="R2e1407abd7f540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4a3571f0b24de0" /><Relationship Type="http://schemas.openxmlformats.org/officeDocument/2006/relationships/notesMaster" Target="/ppt/notesMasters/notesMaster1.xml" Id="Rd7e18254f4104d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936d8a939049a8" /><Relationship Type="http://schemas.openxmlformats.org/officeDocument/2006/relationships/notesMaster" Target="/ppt/notesMasters/notesMaster1.xml" Id="R8b740ed5989b42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4c55b99fdb4e01" /><Relationship Type="http://schemas.openxmlformats.org/officeDocument/2006/relationships/notesMaster" Target="/ppt/notesMasters/notesMaster1.xml" Id="R31bd7469a3ef49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085e10e7b241fa" /><Relationship Type="http://schemas.openxmlformats.org/officeDocument/2006/relationships/notesMaster" Target="/ppt/notesMasters/notesMaster1.xml" Id="Re824f2a7287443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6e4e258ae44530" /><Relationship Type="http://schemas.openxmlformats.org/officeDocument/2006/relationships/notesMaster" Target="/ppt/notesMasters/notesMaster1.xml" Id="Rccff5b31ea0c45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cd4a84342f4ab2" /><Relationship Type="http://schemas.openxmlformats.org/officeDocument/2006/relationships/notesMaster" Target="/ppt/notesMasters/notesMaster1.xml" Id="Rc76e0417022447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ef6f18602642ba" /><Relationship Type="http://schemas.openxmlformats.org/officeDocument/2006/relationships/notesMaster" Target="/ppt/notesMasters/notesMaster1.xml" Id="Rcb954b9d1fa344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2ce30b64ca4d24" /><Relationship Type="http://schemas.openxmlformats.org/officeDocument/2006/relationships/notesMaster" Target="/ppt/notesMasters/notesMaster1.xml" Id="R6c91373ba0be40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4f422f2f70476a" /><Relationship Type="http://schemas.openxmlformats.org/officeDocument/2006/relationships/notesMaster" Target="/ppt/notesMasters/notesMaster1.xml" Id="R3b6521617abc43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7c5895397b4089" /><Relationship Type="http://schemas.openxmlformats.org/officeDocument/2006/relationships/notesMaster" Target="/ppt/notesMasters/notesMaster1.xml" Id="R2df00a6784124b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c02af91439b4b28" /><Relationship Type="http://schemas.openxmlformats.org/officeDocument/2006/relationships/notesMaster" Target="/ppt/notesMasters/notesMaster1.xml" Id="R9ac26446859c45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d23211904641a4" /><Relationship Type="http://schemas.openxmlformats.org/officeDocument/2006/relationships/notesMaster" Target="/ppt/notesMasters/notesMaster1.xml" Id="R14a1f2491a2a46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385a1c07b04190" /><Relationship Type="http://schemas.openxmlformats.org/officeDocument/2006/relationships/notesMaster" Target="/ppt/notesMasters/notesMaster1.xml" Id="R491d852e420a4b6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ede1c86ec3f4596" /><Relationship Type="http://schemas.openxmlformats.org/officeDocument/2006/relationships/notesMaster" Target="/ppt/notesMasters/notesMaster1.xml" Id="R984608db7a3b46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7939419df9419d" /><Relationship Type="http://schemas.openxmlformats.org/officeDocument/2006/relationships/notesMaster" Target="/ppt/notesMasters/notesMaster1.xml" Id="Rb49b205e25e84c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ec810289ff4d1e" /><Relationship Type="http://schemas.openxmlformats.org/officeDocument/2006/relationships/notesMaster" Target="/ppt/notesMasters/notesMaster1.xml" Id="R7f474ebfde9541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2ab2d817cc4d10" /><Relationship Type="http://schemas.openxmlformats.org/officeDocument/2006/relationships/notesMaster" Target="/ppt/notesMasters/notesMaster1.xml" Id="Rdcee50ab703d40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d0b0ad5e8164375" /><Relationship Type="http://schemas.openxmlformats.org/officeDocument/2006/relationships/notesMaster" Target="/ppt/notesMasters/notesMaster1.xml" Id="Rc65e9dbac4104e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e1886bc7c174237" /><Relationship Type="http://schemas.openxmlformats.org/officeDocument/2006/relationships/notesMaster" Target="/ppt/notesMasters/notesMaster1.xml" Id="Rf897c4582c9344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69a16dea8b4647" /><Relationship Type="http://schemas.openxmlformats.org/officeDocument/2006/relationships/notesMaster" Target="/ppt/notesMasters/notesMaster1.xml" Id="Ra402d35cc6db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Guía de capacitación.</a:t>
            </a:r>
          </a:p>
          <a:p xmlns:a="http://schemas.openxmlformats.org/drawingml/2006/main">
            <a:r>
              <a:t>Pantalla: Resumen por perfiles.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Versión 1.7.0. Capturas con datos ficticios de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Guía de capacitación.</a:t>
            </a:r>
          </a:p>
          <a:p xmlns:a="http://schemas.openxmlformats.org/drawingml/2006/main">
            <a:r>
              <a:t>Pantalla: Resumen por perfiles.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menús dependen de los permisos de la cuenta. Un administrador sin registro de doctor no autoriza incapacidades.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Todos los perfiles.</a:t>
            </a:r>
          </a:p>
          <a:p xmlns:a="http://schemas.openxmlformats.org/drawingml/2006/main">
            <a:r>
              <a:t>Pantalla: /Account/Login.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 cuenta debe estar activa. Si se exige un cambio de contraseña, la aplicación dirige a esa pantalla.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Empleado.</a:t>
            </a:r>
          </a:p>
          <a:p xmlns:a="http://schemas.openxmlformats.org/drawingml/2006/main">
            <a:r>
              <a:t>Pantalla: /.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Ayuda y manual abre la descarga de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Empleado.</a:t>
            </a:r>
          </a:p>
          <a:p xmlns:a="http://schemas.openxmlformats.org/drawingml/2006/main">
            <a:r>
              <a:t>Pantalla: /Appointments.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tiempos y el horizonte dependen de la configuración y disponibilidad médica.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Empleado.</a:t>
            </a:r>
          </a:p>
          <a:p xmlns:a="http://schemas.openxmlformats.org/drawingml/2006/main">
            <a:r>
              <a:t>Pantalla: /Appointments?date={date}&amp;openBooking=true.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No necesitas capturar otra vez tus datos personales. Si el horario deja de estar disponible, elige otro.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Empleado.</a:t>
            </a:r>
          </a:p>
          <a:p xmlns:a="http://schemas.openxmlformats.org/drawingml/2006/main">
            <a:r>
              <a:t>Pantalla: /Appointments.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El empleado cancela únicamente sus citas futuras programadas. No puede marcar asistencia ni modificar citas de otros.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Empleado.</a:t>
            </a:r>
          </a:p>
          <a:p xmlns:a="http://schemas.openxmlformats.org/drawingml/2006/main">
            <a:r>
              <a:t>Pantalla: /Appointments/List.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 búsqueda de la tabla actúa sobre la página cargada. Para ampliar el periodo, usa el filtro de fechas.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Empleado.</a:t>
            </a:r>
          </a:p>
          <a:p xmlns:a="http://schemas.openxmlformats.org/drawingml/2006/main">
            <a:r>
              <a:t>Pantalla: /Leaves.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El empleado consulta sus registros. La captura y la autorización corresponden al personal con permiso.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 y personal autorizado.</a:t>
            </a:r>
          </a:p>
          <a:p xmlns:a="http://schemas.openxmlformats.org/drawingml/2006/main">
            <a:r>
              <a:t>Pantalla: /Leaves/Calendar?personId={personId}.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borradores y los periodos cancelados no se muestran como incapacidades vigentes. Un término a medianoche no añade otro día.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Empleado y personal autorizado.</a:t>
            </a:r>
          </a:p>
          <a:p xmlns:a="http://schemas.openxmlformats.org/drawingml/2006/main">
            <a:r>
              <a:t>Pantalla: /LeaveDocuments?leaveId={leaveId}.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El titular puede consultar. La carga queda disponible para el doctor responsable o la administración médica.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Personal autorizado.</a:t>
            </a:r>
          </a:p>
          <a:p xmlns:a="http://schemas.openxmlformats.org/drawingml/2006/main">
            <a:r>
              <a:t>Pantalla: /LeaveDocuments/Record?personId={personId}.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Este archivo documental conserva los documentos de incapacidades. Las consultas y notas médicas se encuentran en Expediente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Doctor.</a:t>
            </a:r>
          </a:p>
          <a:p xmlns:a="http://schemas.openxmlformats.org/drawingml/2006/main">
            <a:r>
              <a:t>Pantalla: /Appointments.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permisos y el estado de la cita determinan las acciones disponibles. Las citas de otros doctores conservan su privacidad.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Doctor.</a:t>
            </a:r>
          </a:p>
          <a:p xmlns:a="http://schemas.openxmlformats.org/drawingml/2006/main">
            <a:r>
              <a:t>Pantalla: /Agenda.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Las ventanas deben ser futuras y no empalmarse. El horario recurrente se habilita desde el catálogo de doctores.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 o administración médica.</a:t>
            </a:r>
          </a:p>
          <a:p xmlns:a="http://schemas.openxmlformats.org/drawingml/2006/main">
            <a:r>
              <a:t>Pantalla: /Leaves/Create.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 captura no autoriza el periodo automáticamente. No se puede registrar una incapacidad propia ni para personas de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 responsable.</a:t>
            </a:r>
          </a:p>
          <a:p xmlns:a="http://schemas.openxmlformats.org/drawingml/2006/main">
            <a:r>
              <a:t>Pantalla: /Leaves.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Solo el doctor responsable autoriza o cancela. La integración efectiva con asistencias y overtime requiere coordinación con WFMCore.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 responsable o administración médica.</a:t>
            </a:r>
          </a:p>
          <a:p xmlns:a="http://schemas.openxmlformats.org/drawingml/2006/main">
            <a:r>
              <a:t>Pantalla: /LeaveDocuments?leaveId={leaveId}.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Valores iniciales: hasta cinco archivos por carga, diez MB por archivo y veinte MB por carga. El expediente conserva autor y fecha.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Doctor, enfermería autorizada o administrador de accesos.</a:t>
            </a:r>
          </a:p>
          <a:p xmlns:a="http://schemas.openxmlformats.org/drawingml/2006/main">
            <a:r>
              <a:t>Pantalla: /ClinicalRecords?personId={personId}.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empleados sin permiso clínico no acceden a estas notas. Las cuentas con permiso clínico pueden consultar los expedientes de las personas.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Personal con permiso clínico.</a:t>
            </a:r>
          </a:p>
          <a:p xmlns:a="http://schemas.openxmlformats.org/drawingml/2006/main">
            <a:r>
              <a:t>Pantalla: /ClinicalRecords/Create?personId={personId}.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 aplicación valida rangos de captura y presión sistólica mayor que diastólica. No interpreta los valores ni calcula diagnósticos.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Personal con permiso clínico.</a:t>
            </a:r>
          </a:p>
          <a:p xmlns:a="http://schemas.openxmlformats.org/drawingml/2006/main">
            <a:r>
              <a:t>Pantalla: /ClinicalRecords/Create?personId={personId}.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Las aclaraciones se agregan como una nueva consulta o nota de seguimiento. Registrar una receta no descuenta inventario.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Personal con permiso clínico.</a:t>
            </a:r>
          </a:p>
          <a:p xmlns:a="http://schemas.openxmlformats.org/drawingml/2006/main">
            <a:r>
              <a:t>Pantalla: /ClinicalRecords?personId={personId}&amp;visitId={visitId}#clinical-upload.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valores iniciales son cinco archivos por carga, diez MB por archivo y veinte MB en total. Los archivos se cifran y requieren autorización para descargarse.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Doctor, enfermería autorizada o administrador de accesos.</a:t>
            </a:r>
          </a:p>
          <a:p xmlns:a="http://schemas.openxmlformats.org/drawingml/2006/main">
            <a:r>
              <a:t>Pantalla: /Inventory.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Cada lote usa un código distinto. Los saldos se cambian mediante movimientos, no desde la receta.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Personal con permiso de inventario.</a:t>
            </a:r>
          </a:p>
          <a:p xmlns:a="http://schemas.openxmlformats.org/drawingml/2006/main">
            <a:r>
              <a:t>Pantalla: /Inventory/Create.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El código es único. Registra por separado lotes con distinta caducidad.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Personal con permiso de inventario.</a:t>
            </a:r>
          </a:p>
          <a:p xmlns:a="http://schemas.openxmlformats.org/drawingml/2006/main">
            <a:r>
              <a:t>Pantalla: /Inventory/Item/{itemId}.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El historial se conserva. Para corregir un error, registra un movimiento compensatorio con su motivo.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Administración de doctores.</a:t>
            </a:r>
          </a:p>
          <a:p xmlns:a="http://schemas.openxmlformats.org/drawingml/2006/main">
            <a:r>
              <a:t>Pantalla: /Admin/Doctors.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El perfil médico y los permisos administrativos son independientes. Crear un doctor no crea una cuenta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Administración de accesos.</a:t>
            </a:r>
          </a:p>
          <a:p xmlns:a="http://schemas.openxmlformats.org/drawingml/2006/main">
            <a:r>
              <a:t>Pantalla: /Admin/Access.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No puedes retirarte a ti mismo el permiso de administrar accesos. El permiso de leer integración no habilita el expediente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Administración de accesos.</a:t>
            </a:r>
          </a:p>
          <a:p xmlns:a="http://schemas.openxmlformats.org/drawingml/2006/main">
            <a:r>
              <a:t>Pantalla: /Configuration.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Los rangos se combinan con la agenda de doctores activos. Los cambios se conservan después de publicar la aplicación.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Administración de accesos.</a:t>
            </a:r>
          </a:p>
          <a:p xmlns:a="http://schemas.openxmlformats.org/drawingml/2006/main">
            <a:r>
              <a:t>Pantalla: /Configuration.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Antes de operar con pacientes, revisa el modo de prueba y habilita doctores reales. El retiro de los ejemplos requiere el procedimiento documentado de administración.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Administración de accesos.</a:t>
            </a:r>
          </a:p>
          <a:p xmlns:a="http://schemas.openxmlformats.org/drawingml/2006/main">
            <a:r>
              <a:t>Pantalla: /Admin/Audit.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Las consultas clínicas y los archivos conservan trazabilidad. La auditoría evita copiar el contenido clínico o los documentos.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Todos los perfiles.</a:t>
            </a:r>
          </a:p>
          <a:p xmlns:a="http://schemas.openxmlformats.org/drawingml/2006/main">
            <a:r>
              <a:t>Pantalla: /Account/ChangePassword.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No compartas contraseñas. Si no puedes iniciar sesión, solicita apoyo al administrador de las cuentas compartidas.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MedicApp 1.7.0. Todos los perfiles.</a:t>
            </a:r>
          </a:p>
          <a:p xmlns:a="http://schemas.openxmlformats.org/drawingml/2006/main">
            <a:r>
              <a:t>Pantalla: /Help.</a:t>
            </a:r>
          </a:p>
          <a:p xmlns:a="http://schemas.openxmlformats.org/drawingml/2006/main">
            <a:r>
              <a:t>Fuente: interfaz y controladores del repositorio MedicApp, versión 1.7.0. Las capturas pertenecen a una base LocalDB aislada con personas, citas y documentos ficticios.</a:t>
            </a:r>
          </a:p>
          <a:p xmlns:a="http://schemas.openxmlformats.org/drawingml/2006/main">
            <a:r>
              <a:t>Las capturas contienen únicamente personas y registros ficticios. El material explica la interfaz de la versión 1.7.0.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5ec22262546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de705a88f40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0aba2394b44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44ba3a06b41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7e2a1596c4a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7722699da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143B1-2A58-4727-A513-F7FA93556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F217D7-8CF1-4C4D-8F7A-817A9BF236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E9EB99-4139-412A-B84F-0DC244C4F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3560FC-7FE9-4D02-A2B4-CD7C22A74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A25891-1152-4234-A080-4995DC5E5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A41D66-4C84-4D06-B294-6D07B95CD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F509D2-112E-4143-8FC4-2B6533CE5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64FC9A-8D0A-4A9F-8E5B-663D105219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711B66-5EC4-4FE7-8130-82841CE52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EED5C8-EBDF-450F-818D-477CAA884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daac7ef1e42b6" /><Relationship Type="http://schemas.openxmlformats.org/officeDocument/2006/relationships/slideLayout" Target="/ppt/slideLayouts/slideLayout1.xml" Id="R8d5bc270261944ab" /><Relationship Type="http://schemas.openxmlformats.org/officeDocument/2006/relationships/slideLayout" Target="/ppt/slideLayouts/slideLayout2.xml" Id="Rdbfb21d7edf3461a" /><Relationship Type="http://schemas.openxmlformats.org/officeDocument/2006/relationships/slideLayout" Target="/ppt/slideLayouts/slideLayout3.xml" Id="R4ee662c61cf54c61" /><Relationship Type="http://schemas.openxmlformats.org/officeDocument/2006/relationships/slideLayout" Target="/ppt/slideLayouts/slideLayout4.xml" Id="Rbdae971e47bb4dba" /><Relationship Type="http://schemas.openxmlformats.org/officeDocument/2006/relationships/slideLayout" Target="/ppt/slideLayouts/slideLayout5.xml" Id="R5e74223b676041fa" /><Relationship Type="http://schemas.openxmlformats.org/officeDocument/2006/relationships/slideLayout" Target="/ppt/slideLayouts/slideLayout6.xml" Id="R8b8ff9ebf4fb4b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bc270261944ab"/>
    <p:sldLayoutId xmlns:r="http://schemas.openxmlformats.org/officeDocument/2006/relationships" id="2147483650" r:id="Rdbfb21d7edf3461a"/>
    <p:sldLayoutId xmlns:r="http://schemas.openxmlformats.org/officeDocument/2006/relationships" id="2147483651" r:id="R4ee662c61cf54c61"/>
    <p:sldLayoutId xmlns:r="http://schemas.openxmlformats.org/officeDocument/2006/relationships" id="2147483652" r:id="Rbdae971e47bb4dba"/>
    <p:sldLayoutId xmlns:r="http://schemas.openxmlformats.org/officeDocument/2006/relationships" id="2147483653" r:id="R5e74223b676041fa"/>
    <p:sldLayoutId xmlns:r="http://schemas.openxmlformats.org/officeDocument/2006/relationships" id="2147483654" r:id="R8b8ff9ebf4fb4b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4f34401ea44bd" /><Relationship Type="http://schemas.openxmlformats.org/officeDocument/2006/relationships/notesSlide" Target="/ppt/notesSlides/notesSlide1.xml" Id="R4589845b64a345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c4b61b1a04ead" /><Relationship Type="http://schemas.openxmlformats.org/officeDocument/2006/relationships/notesSlide" Target="/ppt/notesSlides/notesSlide2.xml" Id="R786e881ae59343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3811673b7459d" /><Relationship Type="http://schemas.openxmlformats.org/officeDocument/2006/relationships/image" Target="/ppt/media/image.jpeg" Id="R87dc4214c21c474f" /><Relationship Type="http://schemas.openxmlformats.org/officeDocument/2006/relationships/notesSlide" Target="/ppt/notesSlides/notesSlide3.xml" Id="R97abb705e28e4f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eade655cc4bff" /><Relationship Type="http://schemas.openxmlformats.org/officeDocument/2006/relationships/image" Target="/ppt/media/image2.jpeg" Id="R184acd1d12a54cf3" /><Relationship Type="http://schemas.openxmlformats.org/officeDocument/2006/relationships/notesSlide" Target="/ppt/notesSlides/notesSlide4.xml" Id="Ra5f88bcf58e8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d750a023e453c" /><Relationship Type="http://schemas.openxmlformats.org/officeDocument/2006/relationships/image" Target="/ppt/media/image3.jpeg" Id="R9bf9c730a4de40be" /><Relationship Type="http://schemas.openxmlformats.org/officeDocument/2006/relationships/notesSlide" Target="/ppt/notesSlides/notesSlide5.xml" Id="Rc86130b1cc034e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f348511814caa" /><Relationship Type="http://schemas.openxmlformats.org/officeDocument/2006/relationships/image" Target="/ppt/media/image4.jpeg" Id="R2f7ff7ab27654a2b" /><Relationship Type="http://schemas.openxmlformats.org/officeDocument/2006/relationships/notesSlide" Target="/ppt/notesSlides/notesSlide6.xml" Id="R8d188ee2262c46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42af1d9ca4d59" /><Relationship Type="http://schemas.openxmlformats.org/officeDocument/2006/relationships/image" Target="/ppt/media/image5.jpeg" Id="R32b1c88d35344f3d" /><Relationship Type="http://schemas.openxmlformats.org/officeDocument/2006/relationships/notesSlide" Target="/ppt/notesSlides/notesSlide7.xml" Id="R237ac442b8334b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dd5417b534422" /><Relationship Type="http://schemas.openxmlformats.org/officeDocument/2006/relationships/image" Target="/ppt/media/image6.jpeg" Id="Rf91559d61726412f" /><Relationship Type="http://schemas.openxmlformats.org/officeDocument/2006/relationships/notesSlide" Target="/ppt/notesSlides/notesSlide8.xml" Id="R05eb4eafee484f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3ab50f68c4877" /><Relationship Type="http://schemas.openxmlformats.org/officeDocument/2006/relationships/image" Target="/ppt/media/image7.jpeg" Id="R34dc36020a0d47ac" /><Relationship Type="http://schemas.openxmlformats.org/officeDocument/2006/relationships/notesSlide" Target="/ppt/notesSlides/notesSlide9.xml" Id="Rbd7522310ec44a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14bab77184185" /><Relationship Type="http://schemas.openxmlformats.org/officeDocument/2006/relationships/image" Target="/ppt/media/image8.jpeg" Id="Rc7f5713610cf4508" /><Relationship Type="http://schemas.openxmlformats.org/officeDocument/2006/relationships/notesSlide" Target="/ppt/notesSlides/notesSlide10.xml" Id="R798abb0f93394c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d5e4fe3344ede" /><Relationship Type="http://schemas.openxmlformats.org/officeDocument/2006/relationships/image" Target="/ppt/media/image9.jpeg" Id="Rdefbecf0cc694b0f" /><Relationship Type="http://schemas.openxmlformats.org/officeDocument/2006/relationships/notesSlide" Target="/ppt/notesSlides/notesSlide11.xml" Id="R5b2dd55d90a34c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aacb5a33b408f" /><Relationship Type="http://schemas.openxmlformats.org/officeDocument/2006/relationships/image" Target="/ppt/media/image10.jpeg" Id="R1eafbd00895a4f75" /><Relationship Type="http://schemas.openxmlformats.org/officeDocument/2006/relationships/notesSlide" Target="/ppt/notesSlides/notesSlide12.xml" Id="R1f98af9b8d744a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4006ae6ce42fc" /><Relationship Type="http://schemas.openxmlformats.org/officeDocument/2006/relationships/image" Target="/ppt/media/image11.jpeg" Id="R06c56ef1383141f4" /><Relationship Type="http://schemas.openxmlformats.org/officeDocument/2006/relationships/notesSlide" Target="/ppt/notesSlides/notesSlide13.xml" Id="R0df26e4eefc840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3c2a7278747cf" /><Relationship Type="http://schemas.openxmlformats.org/officeDocument/2006/relationships/image" Target="/ppt/media/image12.jpeg" Id="R871dd928e0a64a1a" /><Relationship Type="http://schemas.openxmlformats.org/officeDocument/2006/relationships/notesSlide" Target="/ppt/notesSlides/notesSlide14.xml" Id="Ra830edb26d8b48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decac431945bf" /><Relationship Type="http://schemas.openxmlformats.org/officeDocument/2006/relationships/image" Target="/ppt/media/image13.jpeg" Id="Rf77a31e6e8f74d2b" /><Relationship Type="http://schemas.openxmlformats.org/officeDocument/2006/relationships/notesSlide" Target="/ppt/notesSlides/notesSlide15.xml" Id="Rdce8a209bb5a4d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48294bc484b4e" /><Relationship Type="http://schemas.openxmlformats.org/officeDocument/2006/relationships/image" Target="/ppt/media/image14.jpeg" Id="R8ae5d8a693f64014" /><Relationship Type="http://schemas.openxmlformats.org/officeDocument/2006/relationships/notesSlide" Target="/ppt/notesSlides/notesSlide16.xml" Id="R22aded827ec24c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b057b9d604564" /><Relationship Type="http://schemas.openxmlformats.org/officeDocument/2006/relationships/image" Target="/ppt/media/image15.jpeg" Id="R4097880565794e49" /><Relationship Type="http://schemas.openxmlformats.org/officeDocument/2006/relationships/notesSlide" Target="/ppt/notesSlides/notesSlide17.xml" Id="R3a5219bef4d34f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e2bc176cc4e9f" /><Relationship Type="http://schemas.openxmlformats.org/officeDocument/2006/relationships/image" Target="/ppt/media/image16.jpeg" Id="R84c7084f432c48c4" /><Relationship Type="http://schemas.openxmlformats.org/officeDocument/2006/relationships/notesSlide" Target="/ppt/notesSlides/notesSlide18.xml" Id="R12086781c79c4d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2a84bdc9b4f20" /><Relationship Type="http://schemas.openxmlformats.org/officeDocument/2006/relationships/image" Target="/ppt/media/image17.jpeg" Id="Raff727829dbc40fc" /><Relationship Type="http://schemas.openxmlformats.org/officeDocument/2006/relationships/notesSlide" Target="/ppt/notesSlides/notesSlide19.xml" Id="R50aa7df55dff48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9a9fae5aa47e4" /><Relationship Type="http://schemas.openxmlformats.org/officeDocument/2006/relationships/image" Target="/ppt/media/image18.jpeg" Id="Ra925fbea42294f3f" /><Relationship Type="http://schemas.openxmlformats.org/officeDocument/2006/relationships/notesSlide" Target="/ppt/notesSlides/notesSlide20.xml" Id="R873e68be8b6147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e9e8215814292" /><Relationship Type="http://schemas.openxmlformats.org/officeDocument/2006/relationships/image" Target="/ppt/media/image19.jpeg" Id="Rec86e143b3974038" /><Relationship Type="http://schemas.openxmlformats.org/officeDocument/2006/relationships/notesSlide" Target="/ppt/notesSlides/notesSlide21.xml" Id="R2c0df04274344d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b4be8d5954b1c" /><Relationship Type="http://schemas.openxmlformats.org/officeDocument/2006/relationships/image" Target="/ppt/media/image20.jpeg" Id="R630a5aa125634f94" /><Relationship Type="http://schemas.openxmlformats.org/officeDocument/2006/relationships/notesSlide" Target="/ppt/notesSlides/notesSlide22.xml" Id="Rf4fe5ed501ea44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5a625fc1b472a" /><Relationship Type="http://schemas.openxmlformats.org/officeDocument/2006/relationships/image" Target="/ppt/media/image21.jpeg" Id="R7dfe46962f1a447f" /><Relationship Type="http://schemas.openxmlformats.org/officeDocument/2006/relationships/notesSlide" Target="/ppt/notesSlides/notesSlide23.xml" Id="Rac1052fa8f604c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a53271d274312" /><Relationship Type="http://schemas.openxmlformats.org/officeDocument/2006/relationships/image" Target="/ppt/media/image22.jpeg" Id="R522338ac5bfd45de" /><Relationship Type="http://schemas.openxmlformats.org/officeDocument/2006/relationships/notesSlide" Target="/ppt/notesSlides/notesSlide24.xml" Id="R8a47aa6d6c8640b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c6c8730344ad5" /><Relationship Type="http://schemas.openxmlformats.org/officeDocument/2006/relationships/image" Target="/ppt/media/image23.jpeg" Id="R448be6a1c68f45ae" /><Relationship Type="http://schemas.openxmlformats.org/officeDocument/2006/relationships/notesSlide" Target="/ppt/notesSlides/notesSlide25.xml" Id="R666e0c34803d475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b8f23daca48c6" /><Relationship Type="http://schemas.openxmlformats.org/officeDocument/2006/relationships/image" Target="/ppt/media/image24.jpeg" Id="R35cc532dfd6c4736" /><Relationship Type="http://schemas.openxmlformats.org/officeDocument/2006/relationships/notesSlide" Target="/ppt/notesSlides/notesSlide26.xml" Id="Rd18c7279c96048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5262e2dcf455e" /><Relationship Type="http://schemas.openxmlformats.org/officeDocument/2006/relationships/image" Target="/ppt/media/image25.jpeg" Id="Rff2e3f87cf06454f" /><Relationship Type="http://schemas.openxmlformats.org/officeDocument/2006/relationships/notesSlide" Target="/ppt/notesSlides/notesSlide27.xml" Id="Ra67e7e3684f8409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61d5b1a1744a4" /><Relationship Type="http://schemas.openxmlformats.org/officeDocument/2006/relationships/image" Target="/ppt/media/image26.jpeg" Id="Rd438f3bb1d2d4bd8" /><Relationship Type="http://schemas.openxmlformats.org/officeDocument/2006/relationships/notesSlide" Target="/ppt/notesSlides/notesSlide28.xml" Id="Rfee02170e4084f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9e6b9d34c4db9" /><Relationship Type="http://schemas.openxmlformats.org/officeDocument/2006/relationships/image" Target="/ppt/media/image27.jpeg" Id="Rad8e1f13d12a43e5" /><Relationship Type="http://schemas.openxmlformats.org/officeDocument/2006/relationships/notesSlide" Target="/ppt/notesSlides/notesSlide29.xml" Id="R4a03b1d989cb44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c6ecaea50e4720" /><Relationship Type="http://schemas.openxmlformats.org/officeDocument/2006/relationships/image" Target="/ppt/media/image28.jpeg" Id="R7b45975e5e454a74" /><Relationship Type="http://schemas.openxmlformats.org/officeDocument/2006/relationships/notesSlide" Target="/ppt/notesSlides/notesSlide30.xml" Id="R264233b433b345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e7d366edd4faa" /><Relationship Type="http://schemas.openxmlformats.org/officeDocument/2006/relationships/image" Target="/ppt/media/image29.jpeg" Id="R49385d2875c14a70" /><Relationship Type="http://schemas.openxmlformats.org/officeDocument/2006/relationships/notesSlide" Target="/ppt/notesSlides/notesSlide31.xml" Id="R8e2c210852e74a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DB1FE-F040-4CE1-95B5-62FC0D3E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190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MEDICAPP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85BF6-A85C-4659-BC31-2E9AB550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333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Guía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1CA3-A0B5-4C9A-B8A4-88AA4B6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238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Empleados, personal médico</a:t>
            </a:r>
          </a:p>
          <a:p xmlns:a="http://schemas.openxmlformats.org/drawingml/2006/main">
            <a:pPr>
              <a:defRPr sz="33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y administradores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97C65-4FF9-40DC-BAF4-F468A80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62750"/>
            <a:ext cx="1285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Versión 1.7.0</a:t>
            </a:r>
          </a:p>
          <a:p xmlns:a="http://schemas.openxmlformats.org/drawingml/2006/main">
            <a:pPr>
              <a:defRPr sz="187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Capturas con datos ficticios de capacitación</a:t>
            </a:r>
          </a:p>
        </p:txBody>
      </p:sp>
    </p:spTree>
    <p:extLst>
      <p:ext uri="{BB962C8B-B14F-4D97-AF65-F5344CB8AC3E}">
        <p14:creationId xmlns:p14="http://schemas.microsoft.com/office/powerpoint/2010/main" val="21854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8750E-C46C-477B-AB99-074554A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419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Funciones por perfil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90963-5D5F-4B18-9F9C-35B69A8E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98022-5041-4BC7-918D-A66FE325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Reserva y cancela sus citas. Consulta sus incapacidades autorizadas y los documentos a los que tiene acceso.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999C9-2673-45F9-B156-64ECDE62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7CC79-38CA-42A9-AA8C-8C29C540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Gestiona la agenda y atención de sus citas. Registra, autoriza o cancela sus incapacidades. Usa expediente e inventario.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BCFE-26A3-49CF-8811-D4A59215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Enfermería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C1307-3DB8-4A78-9EAE-D5ECF64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Usa expediente clínico e inventario cuando la administración habilita cada permiso. Esos permisos no autorizan incapacidades.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BC4AA-5881-456A-8E3B-D452B4FE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4469C-B479-4363-BEA0-ECE57E3E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4362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Gestiona doctores, permisos, configuración y auditoría. Puede capturar una incapacidad indicando el doctor responsable.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77208-7BC3-419A-9598-05F599EF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81925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menús dependen de los permisos de la cuenta. Un administrador sin registro de doctor no autoriza incapacidades.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66140-539C-4BF3-8AFF-77A4B7D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3776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2830B-0AAC-43C5-8247-10D87AA2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Inicio de sesión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F1F0-4641-4B03-AA67-31AA514C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Todos los perfiles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6D784-91E5-41D9-938B-0F10CAA2D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c4214c21c474f"/>
          <a:stretch xmlns:a="http://schemas.openxmlformats.org/drawingml/2006/main"/>
        </p:blipFill>
        <p:spPr>
          <a:xfrm xmlns:a="http://schemas.openxmlformats.org/drawingml/2006/main">
            <a:off x="438067" y="1952625"/>
            <a:ext cx="9410865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E4CDA-0235-4B5E-B6EF-E971981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Identificación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4ACB6-7A32-4200-8B62-DDD34DF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Escribe tu cuenta o número de empleado compartido.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BD1D5-2C87-4EB7-A87F-CEC9AC0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Mostrar / Ocultar contraseña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3EAE-D9B9-455F-A457-4CA0131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 botón del ojo alterna la visibilidad. La contraseña inicia oculta.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CBFC6-412F-419B-B8D4-1AB4009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Iniciar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55F9C-1A31-47B8-BDAA-94D7AF2A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Envía tus datos. Si son incorrectos, revisa la identificación y contraseña antes de intentar otra vez.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62038-8CB6-47FB-8C6B-97402573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 cuenta debe estar activa. Si se exige un cambio de contraseña, la aplicación dirige a esa pantalla.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36AA3-EAF8-4367-B7A8-14F58A41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0723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F5325-020A-4DDE-90EC-C70011C5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Inicio y navegación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F3518-7C83-47C3-AFA9-1AAA1F9A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B2B4F-0753-49B8-9D4B-8AB881152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acd1d12a54cf3"/>
          <a:stretch xmlns:a="http://schemas.openxmlformats.org/drawingml/2006/main"/>
        </p:blipFill>
        <p:spPr>
          <a:xfrm xmlns:a="http://schemas.openxmlformats.org/drawingml/2006/main">
            <a:off x="1357926" y="1952625"/>
            <a:ext cx="7571147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FF57D-B3D5-45D2-83EA-A7700C1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Reservar cita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CBA13-42B7-4182-BEB5-B2AD8F89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el calendario y el formulario de reserva.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2CDA5-02B1-4C59-8850-7A11654B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Citas pendientes / Incapacidades vigentes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9BA99-906A-4A85-B321-FA9DF08D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Los contadores enlazan a los registros de tu cuenta.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4FB7A-C10B-4D52-B235-FFA3DBDF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Menús y Cerrar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40CB-048B-4426-9AB4-1000F76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el módulo correspondiente. Cierra la sesión al terminar en un equipo compartido.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61F75-56A3-4473-BCCA-5E4A4AE7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Ayuda y manual abre la descarga de esta presentación.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920EA-4E16-46E8-BCEA-7677CDF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4455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E2BA7-1445-4371-BAA0-476E1809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Calendario de citas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4B4DA-8326-4A7D-AA66-7BFAD01A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F0FE-48CD-4C6E-849E-8DD6CD677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9c730a4de40be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2D1C5-3FF8-460E-9F44-80AC0C5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Mes, Semana, Día y 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0749F-D1B2-470F-B4FB-393F4634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Cambian la forma de ver las fechas. Las flechas recorren periodos y Hoy regresa a la fecha actual.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52F1F-26F6-4AE1-9CA5-38CE550B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Bloques ocupados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94D97-321E-4703-9766-9148552A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Las citas ajenas se muestran como ocupadas. Elige un espacio libre.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ED7EF-EC93-472A-8139-106C614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Fecha y 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E8419-195D-46F4-B277-B6138048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La reserva admite fechas dentro del horizonte configurado. Inicialmente, siete días y citas de treinta minutos.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7B65A-C5D0-44F9-999B-925206DB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tiempos y el horizonte dependen de la configuración y disponibilidad médica.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9A38D-7B6B-4D63-A68C-01326D42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139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4281A-1670-4C76-A779-8BDCED7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Reserva de una cita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B4B47-F457-4E61-AC86-BAC37E4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ADACA-6014-4857-8F80-1426D0C9C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ff7ab27654a2b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585A-D31C-483A-B1C2-F46447D2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01785-11F1-4109-A248-A8C05F09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Elige el día permitido. Los horarios disponibles se actualizan para esa fecha.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EEA1C-7FD2-443C-B7B8-B6832B7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Hora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17C71-66C0-467C-B749-1B9F707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Selecciona un intervalo completo, por ejemplo 08:00 a 08:30.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1BB91-87EF-4A3D-9DE8-6B63250F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Confirmar cita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902CA-7E88-46DC-9A7B-9D42A4D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Guarda la cita a tu nombre. La aplicación asigna el doctor disponible y vuelve a revisar que el horario siga libre.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87F00-51BD-495C-AE22-F727DED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No necesitas capturar otra vez tus datos personales. Si el horario deja de estar disponible, elige otro.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E87F6-F3A5-45A8-8AF9-73970F30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1219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72F0C-2F95-4277-951A-A4C3C0C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Consulta y cancelación de una cita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67CA5-A6FE-475E-B090-797E77A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EEA2C-CE8B-40AC-BC25-0348C6CCA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1c88d35344f3d"/>
          <a:stretch xmlns:a="http://schemas.openxmlformats.org/drawingml/2006/main"/>
        </p:blipFill>
        <p:spPr>
          <a:xfrm xmlns:a="http://schemas.openxmlformats.org/drawingml/2006/main">
            <a:off x="428625" y="2086570"/>
            <a:ext cx="9429750" cy="530423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CFB68-F74E-4805-A821-D31F277F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Bloque de tu cita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16A83-E229-4116-8616-10ABEF14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el detalle para revisar fecha, hora, doctor y estado.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68AB-8158-4E78-9EFB-D6EAC4CE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Acción y Motivo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941AB-759C-45A0-935D-AEEF5BE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Cuando la cita permite cancelación, selecciona Cancelar y escribe el motivo.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396C0-1C46-4F54-BE87-F9B7F904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 / Cerrar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81782-927D-498B-9988-0096343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Guardar aplica la acción. La X cierra el detalle. Una cita ajena solo muestra ocupación.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1D03-782B-48E2-8381-5BC5865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El empleado cancela únicamente sus citas futuras programadas. No puede marcar asistencia ni modificar citas de otros.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C05B8-6827-4E1C-BA53-023B696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3491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7CFC-C5F4-4BBE-AE24-3750027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Lista, búsqueda y filtros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5989B-D2A5-41C7-8C9E-71FD0AF5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15AAB-DCAE-43E2-A0CA-7F73F48BD8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559d61726412f"/>
          <a:stretch xmlns:a="http://schemas.openxmlformats.org/drawingml/2006/main"/>
        </p:blipFill>
        <p:spPr>
          <a:xfrm xmlns:a="http://schemas.openxmlformats.org/drawingml/2006/main">
            <a:off x="1818624" y="1952625"/>
            <a:ext cx="6649753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4F80B-C491-45C2-AF5D-D0881D94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Desde / Hasta y Buscar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38538-DA25-4B9D-AD7F-3599771B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Acota los registros por fechas y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4CA5E-4629-4C4D-9BDD-CC23DB3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Buscar en esta página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8EB42-810B-48CA-9AF2-2BAB493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Filtra las filas que ya están cargadas. Los campos al pie filtran por columna.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C54B8-F3E1-4E08-85D6-12928885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Columnas, Limpiar filtros y páginas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E1F74-4F45-4909-9A32-D6FA52D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Elige qué columnas ver, elimina filtros locales y recorre el resto de los resultados.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0ED5B-CE5B-4408-B004-DE202D6F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 búsqueda de la tabla actúa sobre la página cargada. Para ampliar el periodo, usa el filtro de fechas.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DB23E-B6D4-484B-A674-D270D6E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9072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02124-6D72-4399-A1BF-A88345A5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Mis incapacidades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DA770-F2B0-445B-9D87-7B5ADA0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FEF99-16F8-4AEF-B5E4-8E428D6DE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c36020a0d47ac"/>
          <a:stretch xmlns:a="http://schemas.openxmlformats.org/drawingml/2006/main"/>
        </p:blipFill>
        <p:spPr>
          <a:xfrm xmlns:a="http://schemas.openxmlformats.org/drawingml/2006/main">
            <a:off x="2144037" y="1952625"/>
            <a:ext cx="5998926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0A9F1-B0B5-4BC5-985F-E430C2F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Registro de incapacidades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797F5-2D30-400C-B66D-EEA95EC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Muestra tus periodos, referencias y estados.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E8AA5-F7A1-486C-A1E8-BAEFA1D3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Documentos y Expediente documental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3AF70-D1CB-4864-BAE4-3458F445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Abren las evidencias de una incapacidad y el archivo de incapacidades de la persona.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54F7E-AE9D-4AD7-874E-D0F104A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Calendario de incapacidades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91859-3D98-46B4-B5DA-2F0D9F02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Permite ver gráficamente los periodos autorizados.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85706-2DEF-4921-B912-21780848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El empleado consulta sus registros. La captura y la autorización corresponden al personal con permiso.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5D811-B73E-4744-A2B3-5EA725BA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5857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6666E-1887-4774-8340-986BB1B9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Calendario de incapacidades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624B0-4F57-4F1B-836B-56CF718C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 y personal autorizado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A0064-4EE4-483B-89F0-4B3F7155A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5713610cf4508"/>
          <a:stretch xmlns:a="http://schemas.openxmlformats.org/drawingml/2006/main"/>
        </p:blipFill>
        <p:spPr>
          <a:xfrm xmlns:a="http://schemas.openxmlformats.org/drawingml/2006/main">
            <a:off x="2377119" y="1952625"/>
            <a:ext cx="5532761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69CC9-D72F-4CF5-95DB-90980B92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 y Mostrar calendario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7C060-E308-4697-AFA2-803C8A4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 personal autorizado busca por nombre o número de control. El empleado consulta su propio calendario.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A7F45-DFAA-4C68-A60F-A147C496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Mes, Semana y 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CBA78-9176-4DED-B5F0-180F5377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Cambian la vista. Las barras abarcan los días del periodo autorizado.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CD4A7-C7C4-450C-A777-089602FB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Periodo del calendario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C850F-8726-4D29-837D-D36DD87F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el detalle con las horas exactas de inicio y término.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5D58C-2AB6-48BC-ABD7-2BF6B41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borradores y los periodos cancelados no se muestran como incapacidades vigentes. Un término a medianoche no añade otro día.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7F1A0-2EC0-48DF-954A-08CB0F9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8781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F696-5EBB-453D-9FC5-325008A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Documentos de una incapacidad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55C3F-5727-4333-B006-93364E7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 y personal autorizado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23DA-4645-4FBF-873A-88D850320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becf0cc694b0f"/>
          <a:stretch xmlns:a="http://schemas.openxmlformats.org/drawingml/2006/main"/>
        </p:blipFill>
        <p:spPr>
          <a:xfrm xmlns:a="http://schemas.openxmlformats.org/drawingml/2006/main">
            <a:off x="1366041" y="1952625"/>
            <a:ext cx="7554918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54D3E-7C20-4794-9D59-F8729EF1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Referencia, fechas y estado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A237B-1805-4C68-878B-927E0B9F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Confirman a qué incapacidad pertenecen los documentos.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0C8D3-8AB2-41A5-868D-1ED39931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Consultar / descargar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425E5-A29B-4616-BB81-FD8FC7FB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Descarga el archivo para abrirlo con un visor compatible.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C619-D307-4805-A272-4A94168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Expediente documental / Volver al registro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2639B-B393-436D-87F1-05132F4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Muestran el historial de incapacidades de la persona o regresan a la lista.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B15C7-0E09-4B2E-BF69-CC46E24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El titular puede consultar. La carga queda disponible para el doctor responsable o la administración médica.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BEC9C-7043-46E2-86F2-16D092B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0038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51112-8FB9-404D-B2E1-599C420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Expediente de incapacidades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BE804-25BB-42C6-9F35-33203D0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Personal autorizado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C3944-DF74-4ECA-9AC5-CF7A839A2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fbd00895a4f75"/>
          <a:stretch xmlns:a="http://schemas.openxmlformats.org/drawingml/2006/main"/>
        </p:blipFill>
        <p:spPr>
          <a:xfrm xmlns:a="http://schemas.openxmlformats.org/drawingml/2006/main">
            <a:off x="1223178" y="1952625"/>
            <a:ext cx="7840643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5EB4F-9DE9-4A4D-B4C1-AD9E1E39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Búsqueda de persona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16CFE-B76A-49B5-A93F-D1764C2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Selecciona nombre o número de control y abre el expediente.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28967-65D5-4034-9C72-B21A5689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Historial de periodos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B694A-DFF7-4782-8282-21704FC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Consulta referencia, inicio, término y estado de cada incapacidad.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4D088-ADFB-40DD-986B-7B7B54E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Documentos (n)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9689-5FA7-4D3D-A61F-ED5C73F1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 número indica los archivos disponibles. El botón abre las evidencias de ese periodo.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AC26D-90AA-41B3-92FE-4EC98DB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Este archivo documental conserva los documentos de incapacidades. Las consultas y notas médicas se encuentran en Expediente clínico.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CFABA-DC74-4C65-9C88-93392B04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9331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04376-9CA8-4039-8736-E8F27BD7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Atención de citas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83172-B4D9-47ED-8388-E11BD310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2230-B976-48DD-83BA-5BEDB7DD1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56ef1383141f4"/>
          <a:stretch xmlns:a="http://schemas.openxmlformats.org/drawingml/2006/main"/>
        </p:blipFill>
        <p:spPr>
          <a:xfrm xmlns:a="http://schemas.openxmlformats.org/drawingml/2006/main">
            <a:off x="428625" y="2086570"/>
            <a:ext cx="9429750" cy="530423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31162-D22C-4C9F-A692-0C34B67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Calendario del doctor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C5ED2-AD4F-4E61-B87D-6839299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Permite revisar las citas que tiene asignadas.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1ADDC-729E-47D1-B430-48E4C1A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Detalle y Acción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DC704-EDD1-4A9D-A469-57E7C0F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Para una cita programada, el doctor puede registrar atención, inasistencia o cancelación cuando la acción esté disponible.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999E8-4E38-4E04-BE3A-E0EC5F59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C665B-A635-40BA-AB61-B7140C4A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Aplica el cambio. Revisa la cita y el motivo solicitado antes de confirmar.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0C885-32AB-4137-8F29-92FA65F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permisos y el estado de la cita determinan las acciones disponibles. Las citas de otros doctores conservan su privacidad.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AFBDE-86B6-4CB0-82FE-5DC32F8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0892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52E73-CFEF-450C-94EE-6029FA4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Agenda y horarios disponibles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14B38-177B-446A-8327-1BCE6C5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6784C-6309-40C7-9572-7281FC7B1E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dd928e0a64a1a"/>
          <a:stretch xmlns:a="http://schemas.openxmlformats.org/drawingml/2006/main"/>
        </p:blipFill>
        <p:spPr>
          <a:xfrm xmlns:a="http://schemas.openxmlformats.org/drawingml/2006/main">
            <a:off x="1751422" y="1952625"/>
            <a:ext cx="6784156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BD968-4C2A-44D1-9CD2-EB9DC18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Inicio y Fin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6044E-619A-4F89-8247-AF261A8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Definen la ventana en la que el doctor atenderá citas.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429A-8EAB-4B4C-AC77-F9B6D3F1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Minutos por cita y Crear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39C21-323F-4996-8B38-2FB14371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Eligen la duración de cada intervalo, hasta treinta minutos, y guardan la ventana.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9D147-4626-4073-8944-349C04DB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Deshabilitar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669B4-D13C-4E07-8BD1-30BBE891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Retira una ventana disponible. La aplicación impide retirarla si tiene citas programadas.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E262B-40AC-4B66-A475-64F3C8CA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Las ventanas deben ser futuras y no empalmarse. El horario recurrente se habilita desde el catálogo de doctores.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C6A81-0E40-4733-807F-4E56464F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474049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57C10-DB18-40C1-9C60-2E52D7C6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Registro de una incapacidad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1CDC3-5B31-4934-9D90-6C513BE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 o administración médica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A111-230D-4942-8BCB-26CD4D6F83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a31e6e8f74d2b"/>
          <a:stretch xmlns:a="http://schemas.openxmlformats.org/drawingml/2006/main"/>
        </p:blipFill>
        <p:spPr>
          <a:xfrm xmlns:a="http://schemas.openxmlformats.org/drawingml/2006/main">
            <a:off x="1770898" y="1952625"/>
            <a:ext cx="6745204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40120-BCA4-4226-B3BE-C66950AF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Agregar incapacidad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61CD2-F0B9-4D1F-9A5A-8CD28A33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el formulario desde Registro de incapacidades.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E9A66-E600-48C2-A140-FF25A283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Persona, Inicio, Fin y 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2DC87-5334-42A0-AC08-49DE2E7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Identifican a la persona y el periodo indicado en el documento.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30406-0463-4ED7-9DC7-B35662D0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 responsable y Guardar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B0367-01AB-4410-BB35-B1DFE55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La administración asigna un doctor real activo. El doctor captura a su nombre. Guardar crea un borrador y abre los documentos.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23A67-AF95-4655-B8F5-A1CF6A24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 captura no autoriza el periodo automáticamente. No se puede registrar una incapacidad propia ni para personas de demostración.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49324-AB99-41FB-8297-6B60EB6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24282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7A0C3-F9BE-47B6-BD95-5B9DB00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Autorización y evidencias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7D4F8-2FB2-45D7-98C9-5D104A55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 responsable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CFBFA-4813-4DE7-9347-2D09CCC6A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5d8a693f64014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59D2B-4155-4FF2-8AFA-2677DA9E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7A1BA-5660-4B34-849C-9848F296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En una incapacidad propia en borrador, despliega las opciones de estado.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A0B5B-7F98-4637-A19A-8347541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Autorizar / Cancelar y Motivo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70072-3800-430C-887C-8836EE44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Elige la acción y escribe su justificación.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BCD2A-FAAD-4956-9C43-1A77F9D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 y Documentos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608D4-2DDF-462F-B09B-9ECDB83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Guarda el nuevo estado y consulta o adjunta evidencias. El calendario muestra los periodos autorizados.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DB7F2-E5D8-49A9-8927-DDC0E342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Solo el doctor responsable autoriza o cancela. La integración efectiva con asistencias y overtime requiere coordinación con WFMCore.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AD5AE-97F8-4E86-BA93-B6F7DC0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892607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6C869-00BE-4F99-A3BE-2B53D93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Carga de evidencias IMSS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255CF-D6D0-4E37-A992-4B71E00B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 responsable o administración médica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11947-C1C1-4E43-92B4-F52653CC3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7880565794e49"/>
          <a:stretch xmlns:a="http://schemas.openxmlformats.org/drawingml/2006/main"/>
        </p:blipFill>
        <p:spPr>
          <a:xfrm xmlns:a="http://schemas.openxmlformats.org/drawingml/2006/main">
            <a:off x="2366219" y="1952625"/>
            <a:ext cx="5554561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2C248-4652-4521-A279-65CB49A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Adjuntar documentos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1F6C-18AC-4849-9313-FD21299A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Después de guardar la incapacidad, selecciona los archivos que demuestran el periodo.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1AA6D-5E2B-4C42-AE0E-CB74A600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 documentos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C5A87-F71A-4581-BE48-3A0246AB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Sube los archivos PDF, JPG o PNG seleccionados. No sustituye la autorización médica del borrador.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6F58A-7A41-4288-9087-564DE664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Consultar / descargar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1B959-81EC-4E08-9418-C75370A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las evidencias que ya están en el registro. El titular también puede consultarlas.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6E355-8AD5-486D-97FE-1A521ECC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Valores iniciales: hasta cinco archivos por carga, diez MB por archivo y veinte MB por carga. El expediente conserva autor y fecha.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2E630-A842-43F7-B927-A618B4C7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644379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62316-AA0E-4908-A6EF-C411B641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Expediente clínico por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5B937-64AE-4B97-AC6B-C0C325A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Doctor, enfermería autorizada o administrador de accesos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9445-6A60-42B9-8BC0-2029B8183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7084f432c48c4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F8E29-7F77-4658-8F0C-6B2F8FF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Buscar y Abrir expediente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EF920-D963-4705-9991-34284B1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Localiza por nombre o número de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E1932-2682-4C0E-90A1-D5496988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Agregar consulta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9E242-1B08-415B-A251-A61CBBCA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Inicia una atención con fecha, notas y signos vitales opcionales.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D53D4-8FAD-47AC-9948-96A8FA39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Historial y autor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2C725-6324-4900-9338-08CB578A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Cada consulta conserva quién la registró y cuándo. Expande una fila para leer su contenido.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D96BD-36D0-44DA-BFC8-0A1426B7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empleados sin permiso clínico no acceden a estas notas. Las cuentas con permiso clínico pueden consultar los expedientes de las personas.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D5473-CD1D-45A8-B6F8-0390264D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285433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30491-AC38-465D-B78E-FD43013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Consulta y signos vitales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45E78-5E66-464A-BC02-63AE80B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Personal con permiso clínico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A2C93-53F1-4A00-8EDE-00B6EC600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727829dbc40fc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E1928-21B2-4DBD-80A4-C2E66877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Fecha y hora de atención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136B8-2DB1-4E9E-90EE-2EB033F4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Se propone la hora actual. Revisa que corresponda a la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F8C6-4D45-4A24-AC2F-0AD3DA7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Signos vitales opcionales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9C0DF-40B3-454C-9995-5B9A7B4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Peso, estatura, temperatura, presión, pulso, respiración, saturación y glucosa incluyen sus unidades.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D99C9-3B74-4351-9A35-175265A7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Datos vacíos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D6DE6-FBF2-44FC-9C41-F6FDDC4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Puedes dejar sin llenar cualquier medición que no hayas tomado.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BA584-68BA-48FD-89B2-6E528962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 aplicación valida rangos de captura y presión sistólica mayor que diastólica. No interpreta los valores ni calcula diagnósticos.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57FE0-05C1-4D33-802F-FBF6BDBA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09703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4BF14-5862-444A-889E-E8AA4E0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Notas, tratamiento y recetas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3C5D-95CA-4C1E-B98D-B950E707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Personal con permiso clínico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E8F1B-FB68-400D-AE01-3D3CF31B6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5fbea42294f3f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2151C-6218-4E5F-8700-10F6D2AF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Motivo, Exploración y Diagnóstico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0E8AC-A790-4358-9252-F0192950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Registran la información de la atención que corresponda.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9B7F4-FEEF-4456-AA94-A9E272A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Tratamiento, Receta y Notas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ABCD6-EC26-4162-8AEF-2F357634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Permiten anotar indicaciones, medicamentos, dosis y seguimiento. Son campos opcionales.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B0263-2A8B-40FC-A69C-02729729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 / Cancelar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A853-6C3A-4873-BCC2-2432D8FC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Guardar añade la consulta al historial. Cancelar regresa al expediente sin guardar la captura.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2976C-D242-4B26-9002-B3884A20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Las aclaraciones se agregan como una nueva consulta o nota de seguimiento. Registrar una receta no descuenta inventario.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64602-A782-4EB5-A550-32565BF4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180491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C0F3D-1C92-4755-8173-0D0E8241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Archivos del expediente clínico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E4EE-F08D-4357-A992-4654FA7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Personal con permiso clínico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79F25-EF27-4104-9572-7342453594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6e143b3974038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702A3-FB73-4F30-B272-8B7E6B9A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Adjuntar archivos a esta consulta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A5F6C-DE52-4AF9-8915-F945AB4A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Relaciona el archivo con una atención. También puedes usar un archivo general de la persona.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9DB15-465B-4460-900A-D7BA032B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Tipo, Descripción y Archivos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4ED4D-938C-441D-B834-AA0D91C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Elige la categoría y, si lo necesitas, agrega una descripción. Se admiten PDF, JPG y PNG.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FF7EA-BA75-42C9-A914-A3BE0692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Subir archivos / Descargar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958F7-3C41-4583-8A0E-CFBA29F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Conservan el documento en el expediente o permiten consultarlo. Los límites de tamaño aparecen en la pantalla.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4C8C4-5DB1-407C-B54E-DC72847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valores iniciales son cinco archivos por carga, diez MB por archivo y veinte MB en total. Los archivos se cifran y requieren autorización para descargarse.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182DA-6996-444C-A31C-2B3BA1C8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249023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63981-D053-4B6C-9EFC-33BC54E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Inventario médico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DD89-1E05-4D61-9BCC-DABA2B7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Doctor, enfermería autorizada o administrador de accesos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7DECD-66FA-41CC-83F3-8FC8A8C39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a5aa125634f94"/>
          <a:stretch xmlns:a="http://schemas.openxmlformats.org/drawingml/2006/main"/>
        </p:blipFill>
        <p:spPr>
          <a:xfrm xmlns:a="http://schemas.openxmlformats.org/drawingml/2006/main">
            <a:off x="1406099" y="1952625"/>
            <a:ext cx="7474802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ED32F-9364-4877-A9E3-86FA3643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Buscar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125D9-86FD-4EEE-96DF-38EDBD22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Localiza el artículo por código, nombre o lote.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7DFE8-F683-4823-A90B-49682A4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Agregar medicamento o insumo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D2071-1776-4A3E-A2BD-6B6BF657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Da de alta un artículo con código propio para ese lote.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E6710-B9E0-47FB-9A43-B424468B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Existencia y avisos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A5850-4EEE-48E3-BBED-261D438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Muestran el saldo, el mínimo y alertas de existencia baja o caducidad. Historial de movimientos abre el control del artículo.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918BB-A0A5-400A-A1B7-1A69667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Cada lote usa un código distinto. Los saldos se cambian mediante movimientos, no desde la receta.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405AC-A6C4-4B7A-AB3A-053A0DED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885194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A88E5-31F8-4685-9F76-E494A30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Alta de medicamentos o insumos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6F683-08AD-42CB-A464-4637ED1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Personal con permiso de inventario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F02B2-E302-4E61-A176-6B7EA79645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e46962f1a447f"/>
          <a:stretch xmlns:a="http://schemas.openxmlformats.org/drawingml/2006/main"/>
        </p:blipFill>
        <p:spPr>
          <a:xfrm xmlns:a="http://schemas.openxmlformats.org/drawingml/2006/main">
            <a:off x="932784" y="1952625"/>
            <a:ext cx="8421431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92FB5-917A-4A78-996D-C4626B55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Código, Nombre y Unidad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08118-0B9B-4380-A93B-152D2018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Identifican el artículo y cómo se cuenta: piezas, cajas, ml u otra unidad.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6F771-AF5C-4275-BB81-1F561191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Lote, Caducidad y Mínimo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BB568-F7F0-48BC-8909-BDA9DD78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Lote y caducidad son opcionales para materiales que no los requieren.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A2FB7-8DF6-4596-AC51-725AD5BF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A701F-9B33-428F-BC96-EFC9DF78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Crea el artículo con existencia cero. Una entrada posterior carga la existencia inicial.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F2CBB-BFD6-4475-954A-4A03071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El código es único. Registra por separado lotes con distinta caducidad.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53E7A-2A4A-4D19-A815-86EC5146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360888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DB64A-3C74-492B-8CD0-9D79EC5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Entradas, salidas y bajas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FA4EB-8FD5-42FC-9020-2279DC49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Personal con permiso de inventario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55B19-CFFE-4F8D-A68A-E6FFC24B6F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338ac5bfd45de"/>
          <a:stretch xmlns:a="http://schemas.openxmlformats.org/drawingml/2006/main"/>
        </p:blipFill>
        <p:spPr>
          <a:xfrm xmlns:a="http://schemas.openxmlformats.org/drawingml/2006/main">
            <a:off x="2317222" y="1952625"/>
            <a:ext cx="5652557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973B4-26D5-45C4-9323-CFA6FE6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Tipo de movimiento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25999-C40B-4A45-97FC-DD81C66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Entrada suma existencias. Salida o Baja / merma las descuentan.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CBAA3-F546-4EC3-BC2A-445CE94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Cantidad y Motivo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6A0A-5863-4BBC-8777-3AF3A96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Aceptan hasta tres decimales y conservan la referencia del movimiento.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D0A8B-9C45-410C-B242-30325DAE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 e Historial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AADBC-E533-415C-94CD-5588324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Registran autor, fecha, cantidad y saldo. El sistema bloquea saldos negativos y entregas de lotes caducados.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9F05C-DB66-4776-80BD-781D220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El historial se conserva. Para corregir un error, registra un movimiento compensatorio con su motivo.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47C24-C852-4F48-9C1D-48C5947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093012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23650-64E4-434D-AB64-29671E25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Catálogo de doctores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ECF92-09F7-4C93-974F-3BC0F221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Administración de doctores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7D2A6-DE9A-4F98-8AAA-7343C8F2D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be6a1c68f45ae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CB7A3-28D0-4A2A-9839-C8C88CDE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Empleado, Especialidad y Cédula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D3FAF-2CFA-4C14-8542-68DF4862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Vinculan una persona existente con el perfil médico.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75CC-BD75-41A1-96ED-4E100F10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Horario recurrente y Crear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DB371-A190-458C-8BB7-41EDD560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Habilitan una agenda diaria basada en el horario global y guardan el doctor.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B64D-CE2E-44C5-BF8A-5193BA0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Acciones y Guardar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2226E-DD72-4DFC-A71E-2A9AC575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Permiten cambiar especialidad, cédula, disponibilidad y recurrencia. Un doctor con citas pendientes no se deshabilita.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62408-3824-4F77-AEFB-20525BA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El perfil médico y los permisos administrativos son independientes. Crear un doctor no crea una cuenta nueva.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85850-3F30-434C-A2BF-D288100C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265879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0D300-8113-4C4F-B892-912922E3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Accesos y permisos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63A25-F3C1-48BF-BB94-07CD0E0D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Administración de accesos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1926A-8B9A-48E0-AF3E-42232176A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c532dfd6c4736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D47A4-D416-435E-B1CF-69EE1BF7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1F7F9-216D-42C8-A042-847C46B0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Busca una cuenta activa existente.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3F337-82C1-4915-8984-08210A9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Permisos independientes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56194-41D7-459A-9D59-5A445D83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Marca administración de doctores, accesos, integración, expediente clínico o inventario según la función de esa persona.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C1809-83CA-4B77-B893-9109567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36267-3598-4749-A53D-611349F5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Aplica los permisos. Enfermería puede tener expediente e inventario sin recibir autorización para incapacidades.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ADE49-7024-4291-A298-57BA5900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No puedes retirarte a ti mismo el permiso de administrar accesos. El permiso de leer integración no habilita el expediente clínico.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AFB72-D9A1-41E8-B112-129A8458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404377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DCE5E-CC98-4203-BE00-698501F7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Configuración de citas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2252B-7A54-4BB8-8D02-733BD66F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Administración de accesos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E2BE2-F726-49D5-AE9D-BF17D467E6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3f87cf06454f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3A66D-B583-410E-B8CE-0CD9F88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Días disponibles y Duración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34884-7B57-4982-999C-3B11565D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Definen el horizonte para reservar y los minutos por cita. Los valores iniciales son siete días y treinta minutos.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4C6D4-1D81-47EB-94FA-3AE53B5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Atención 24 horas / Apertura y 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B17D5-10B5-4C55-9255-66B6F90D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Elige atención continua o limita el horario general.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AA458-B140-43BE-BC01-10A42EC5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9A89E-F1FA-4CCF-A3A4-2E969BB5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Conserva la configuración para nuevas solicitudes de disponibilidad.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9278E-7122-49AD-B539-61D84538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Los rangos se combinan con la agenda de doctores activos. Los cambios se conservan después de publicar la aplicación.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8CCE7-F7AE-4E01-912C-F4CB9E2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179497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2809E-7033-460C-973D-30341898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Datos y reservas de ejemplo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C5B66-42C5-4C11-8041-7F23173B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Administración de accesos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852CA-8310-4E49-82DA-9CCFCEB55F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8f3bb1d2d4bd8"/>
          <a:stretch xmlns:a="http://schemas.openxmlformats.org/drawingml/2006/main"/>
        </p:blipFill>
        <p:spPr>
          <a:xfrm xmlns:a="http://schemas.openxmlformats.org/drawingml/2006/main">
            <a:off x="428625" y="2084940"/>
            <a:ext cx="9429750" cy="530749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656E7-4220-4CDC-B571-6D26054B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Reservas de prueba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B9811-9A21-4041-AF7B-CDE691B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El modo de prueba utiliza el consultorio DEMO y muestra un aviso en el calendario.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B61E1-73FF-4D8E-A598-CED7A259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Ver calendario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01355-EE27-4966-A6F0-61415F9E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Abre el calendario administrativo de demostración.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2F63D-9509-4ABF-9E53-93C688E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Generar datos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7F1FA-1002-4BF7-A22A-9711686F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Crea registros ficticios identificables para capacitación. Úsalo de forma deliberada, no para la operación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0C45A-6BAC-42D3-BC75-C1BC12DB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Antes de operar con pacientes, revisa el modo de prueba y habilita doctores reales. El retiro de los ejemplos requiere el procedimiento documentado de administración.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29474-77C3-4B9A-AF35-AC65350D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034346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DFFCF-8B05-4CE8-9C87-08FCF39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Auditoría de operaciones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C1EC7-E49E-4F0D-B153-4A91138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Administración de accesos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D5AD6-048D-4B97-B251-A8BBF29B0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e1f13d12a43e5"/>
          <a:stretch xmlns:a="http://schemas.openxmlformats.org/drawingml/2006/main"/>
        </p:blipFill>
        <p:spPr>
          <a:xfrm xmlns:a="http://schemas.openxmlformats.org/drawingml/2006/main">
            <a:off x="1253468" y="1952625"/>
            <a:ext cx="7780064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ED6C0-5867-40BD-9CE5-C59318F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Registro de auditoría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B7F70-0042-4F01-8345-61E1EA96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Muestra usuario, fecha, entidad y operación realizada.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995E6-B8E9-43C4-8B0C-85DC1C4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Filtros y Columnas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894AF-A876-45BF-9D3B-D888F7C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Facilitan revisar las filas cargadas y elegir la información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0E1A2-0716-4253-8788-21F2FC3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Anterior / Siguiente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7984E-2FAF-4E61-B4CB-662A702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Recorren el resto del historial. La auditoría es de consulta.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0006F-E378-49C6-9F47-9786B66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Las consultas clínicas y los archivos conservan trazabilidad. La auditoría evita copiar el contenido clínico o los documentos.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510EA-B921-43E4-9417-6B11A8C7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73364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BFCA5-A9E9-4071-B2CB-4DE9FEE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Contraseña y cierre de sesión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8D7F5-4B3D-4128-A199-22BDEF3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Todos los perfiles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05622-657D-4267-9359-AFBC20B315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5975e5e454a74"/>
          <a:stretch xmlns:a="http://schemas.openxmlformats.org/drawingml/2006/main"/>
        </p:blipFill>
        <p:spPr>
          <a:xfrm xmlns:a="http://schemas.openxmlformats.org/drawingml/2006/main">
            <a:off x="613463" y="1952625"/>
            <a:ext cx="9060075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959BC-5B80-48E8-B46C-32E77B2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Contraseña actual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2A4BA-03C5-46CF-8B20-8B84B640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Comprueba la cuenta que solicita el cambio.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DD904-078D-4FEB-A325-1A9D7639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Nueva contraseña y Confirmación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651E3-69FB-4B2C-A498-CFD38874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Captura la misma contraseña en ambos campos y cumple las reglas que solicita el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D19BC-2708-49C4-9808-E533999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Guardar / Cerrar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02563-569E-4250-B0BB-EDC9707A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Guardar aplica el cambio. Cerrar sesión termina el acceso en el equipo.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FC516-9E9F-45B9-99E0-4C6C7D65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No compartas contraseñas. Si no puedes iniciar sesión, solicita apoyo al administrador de las cuentas compartidas.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3B5CE-EF09-4A08-B2A0-C269A47D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603538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07334-4D43-4C14-B266-933E3EEF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73F49"/>
                </a:solidFill>
                <a:latin typeface="Arial"/>
                <a:ea typeface="Arial"/>
                <a:cs typeface="Arial"/>
              </a:rPr>
              <a:t>Descarga de esta guía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83E3C-1C0B-48B6-8374-B4800BCD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409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Todos los perfiles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10EC4-9653-458C-ABFA-F9C755878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85d2875c14a70"/>
          <a:stretch xmlns:a="http://schemas.openxmlformats.org/drawingml/2006/main"/>
        </p:blipFill>
        <p:spPr>
          <a:xfrm xmlns:a="http://schemas.openxmlformats.org/drawingml/2006/main">
            <a:off x="1394171" y="1952625"/>
            <a:ext cx="7498658" cy="5572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212D5-2098-4FAD-A951-73B821D9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Ayuda y manual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19B14-CBBC-4F06-9BD0-382FA4A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Está en el menú y también en Inicio.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7C032-95F9-4FCE-9FF0-75937FF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Descargar presentación (.pptx)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0EEB7-F6B6-4E2E-8784-07FC59B8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Guarda el PowerPoint para consultarlo o usarlo en una capacitación.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FF076-CB81-4A49-8787-B7F3721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D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D8B"/>
                </a:solidFill>
                <a:latin typeface="Arial"/>
                <a:ea typeface="Arial"/>
                <a:cs typeface="Arial"/>
              </a:rPr>
              <a:t>Funciones y permisos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28E56-05D6-4FA5-88B1-CE81A4EF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246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F49"/>
                </a:solidFill>
                <a:latin typeface="Arial"/>
                <a:ea typeface="Arial"/>
                <a:cs typeface="Arial"/>
              </a:rPr>
              <a:t>Si no ves una opción, revisa con la administración el permiso de tu cuenta. Si una reserva falla, actualiza los horarios disponibles.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7E224-0E9E-4B2A-8529-B0DC7FBC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77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Las capturas contienen únicamente personas y registros ficticios. El material explica la interfaz de la versión 1.7.0.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D6595-FEC0-4382-AC6E-120E923B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34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38100" rIns="38100" bIns="38100">
            <a:noAutofit/>
          </a:bodyPr>
          <a:lstStyle xmlns:a="http://schemas.openxmlformats.org/drawingml/2006/main">
            <a:def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E7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869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2026-11-01T20:21:10.9590000Z</dcterms:created>
  <dcterms:modified xsi:type="dcterms:W3CDTF">2026-11-01T20:21:10.9590000Z</dcterms:modified>
</coreProperties>
</file>